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INSTITUTO FEDERAL DE EDUCAÇÃO, CIÊNCIA E TECNOLOGIA DA BAHIA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48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IFBA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4592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1A6B2A"/>
                </a:solidFill>
                <a:latin typeface="Segoe UI"/>
              </a:defRPr>
            </a:pPr>
            <a:r>
              <a:t>TRABALHOS RELACIONADOS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560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A4A4A"/>
                </a:solidFill>
                <a:latin typeface="Segoe UI"/>
              </a:defRPr>
            </a:pPr>
            <a:r>
              <a:t>Projetos Brasileiros em Autenticação Digital,</a:t>
            </a:r>
            <a:br/>
            <a:r>
              <a:t>Biometria e Prevenção a Fraude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3566160"/>
            <a:ext cx="3017520" cy="36576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840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6B2A"/>
                </a:solidFill>
                <a:latin typeface="Segoe UI"/>
              </a:defRPr>
            </a:pPr>
            <a:r>
              <a:t>Sistema Autônomo de Autenticação Inteligente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7548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Discente: João Guedes de Brito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120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Orientador: Prof. Cleber Jorge Lira de Santana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217920"/>
            <a:ext cx="12191695" cy="73152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Salvador - BA | Maio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71600" y="1463040"/>
            <a:ext cx="640080" cy="41148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149047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490472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4A4A"/>
                </a:solidFill>
                <a:latin typeface="Segoe UI"/>
              </a:defRPr>
            </a:pPr>
            <a:r>
              <a:t>Contexto e Objetivo da Revisão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1993392"/>
            <a:ext cx="640080" cy="41148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2020824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020824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4A4A"/>
                </a:solidFill>
                <a:latin typeface="Segoe UI"/>
              </a:defRPr>
            </a:pPr>
            <a:r>
              <a:t>Quadro Comparativo dos 5 Projetos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523744"/>
            <a:ext cx="640080" cy="41148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2551176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551176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4A4A"/>
                </a:solidFill>
                <a:latin typeface="Segoe UI"/>
              </a:defRPr>
            </a:pPr>
            <a:r>
              <a:t>Pesquisa no INPI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3054095"/>
            <a:ext cx="640080" cy="41148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3081527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81527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4A4A"/>
                </a:solidFill>
                <a:latin typeface="Segoe UI"/>
              </a:defRPr>
            </a:pPr>
            <a:r>
              <a:t>unico|check — Biometria Facial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3584448"/>
            <a:ext cx="640080" cy="41148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17320" y="36118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61188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4A4A"/>
                </a:solidFill>
                <a:latin typeface="Segoe UI"/>
              </a:defRPr>
            </a:pPr>
            <a:r>
              <a:t>unico|people — Admissão Digital (ex-Acesso Digital)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4114800"/>
            <a:ext cx="640080" cy="41148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17320" y="414223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142232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4A4A"/>
                </a:solidFill>
                <a:latin typeface="Segoe UI"/>
              </a:defRPr>
            </a:pPr>
            <a:r>
              <a:t>idwall — KYC com Machine Learning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71600" y="4645151"/>
            <a:ext cx="640080" cy="41148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4672583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672583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4A4A"/>
                </a:solidFill>
                <a:latin typeface="Segoe UI"/>
              </a:defRPr>
            </a:pPr>
            <a:r>
              <a:t>CAF — Combate à Fraude e Orquestração de Identidade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5175503"/>
            <a:ext cx="640080" cy="41148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17320" y="5202935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5202935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4A4A"/>
                </a:solidFill>
                <a:latin typeface="Segoe UI"/>
              </a:defRPr>
            </a:pPr>
            <a:r>
              <a:t>gov.br / Serpro — Identidade Digital Federal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371600" y="5705856"/>
            <a:ext cx="640080" cy="41148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17320" y="573328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573328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4A4A"/>
                </a:solidFill>
                <a:latin typeface="Segoe UI"/>
              </a:defRPr>
            </a:pPr>
            <a:r>
              <a:t>Síntese Comparativa e Lacunas Identificadas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Contexto e Objetivo da Revisão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4A4A"/>
                </a:solidFill>
                <a:latin typeface="Segoe UI"/>
              </a:defRPr>
            </a:pPr>
            <a:r>
              <a:t>Esta revisão concentra-se em projetos brasileiros da indústria que abordam, parcial ou integralmente, os pilares da proposta: autenticação digital, biometria, machine learning e gestão de identidade. Cinco projetos foram selecionados como referência do estado da arte nacional.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2608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9E41"/>
                </a:solidFill>
                <a:latin typeface="Segoe UI"/>
              </a:defRPr>
            </a:pPr>
            <a:r>
              <a:t>Machine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2926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Isolation Forest (40%)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Random Forest (30%)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Deep Learning (30%)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Score unificado 0.0-1.0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92608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0175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9E41"/>
                </a:solidFill>
                <a:latin typeface="Segoe UI"/>
              </a:defRPr>
            </a:pPr>
            <a:r>
              <a:t>Biometria e Contexto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383280"/>
            <a:ext cx="2926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Dinâmica de digitação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Geolocalização por IP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Análise de sessão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Deriva comportamental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92608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30175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7E22"/>
                </a:solidFill>
                <a:latin typeface="Segoe UI"/>
              </a:defRPr>
            </a:pPr>
            <a:r>
              <a:t>Blockchain e XAI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383280"/>
            <a:ext cx="2926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Hyperledger Fabric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Ethereum (Web3j)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Auditoria imutável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Explicabilidade via SHAP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Quadro Comparativo Geral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E0B0"/>
                </a:solidFill>
                <a:latin typeface="Segoe UI"/>
              </a:defRPr>
            </a:pPr>
            <a:r>
              <a:t>5 Projetos Brasileiros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46304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377440"/>
                <a:gridCol w="731520"/>
                <a:gridCol w="2194560"/>
                <a:gridCol w="2194560"/>
                <a:gridCol w="2377440"/>
              </a:tblGrid>
              <a:tr h="838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Projeto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Proposta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Ano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Objetivo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Produção / Experimento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Métricas / Resultados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unico|check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Validação de identidade por biometria facial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2007/2020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Autenticar identidades em fintechs e bancos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800+ empresas, 4 dos 5 maiores bancos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&lt;3s, 23+ países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unico|people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Admissão digital com biometria (ex-Acesso Digital)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2007/2020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Digitalizar admissão em RH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400+ empresas, ~30k admissões/mês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Admissão em ~20 min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idwall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Identidade digital all-in-one + KYC com 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KYC automatizado e antifraude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Fintechs, bancos e marketplaces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OCR via ML, lab de antifraude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CAF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Orquestração de identidade + biometria + IA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2019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Antifraude e validação de identidade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SP, RJ, Londres, Toronto, Austin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Documentoscopia + biometria + IA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gov.br / Serpro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Plataforma federal de identidade digital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2019/2021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Autenticação única para serviços públicos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115M+ usuários cadastrados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3 níveis (ouro/prata/bronze), 2FA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Pesquisa no INPI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E0B0"/>
                </a:solidFill>
                <a:latin typeface="Segoe UI"/>
              </a:defRPr>
            </a:pPr>
            <a:r>
              <a:t>Instituto Nacional da Propriedade Industrial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029200" cy="228600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9E41"/>
                </a:solidFill>
                <a:latin typeface="Segoe UI"/>
              </a:defRPr>
            </a:pPr>
            <a:r>
              <a:t>Resultados da Busca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4A4A4A"/>
                </a:solidFill>
                <a:latin typeface="Segoe UI"/>
              </a:defRPr>
            </a:pPr>
            <a:r>
              <a:t>• ~47 pedidos de patentes relacionados a blockchain</a:t>
            </a:r>
          </a:p>
          <a:p>
            <a:pPr>
              <a:spcAft>
                <a:spcPts val="600"/>
              </a:spcAft>
              <a:defRPr sz="1300">
                <a:solidFill>
                  <a:srgbClr val="4A4A4A"/>
                </a:solidFill>
                <a:latin typeface="Segoe UI"/>
              </a:defRPr>
            </a:pPr>
            <a:r>
              <a:t>• Nenhum combinando todos os elementos da proposta</a:t>
            </a:r>
          </a:p>
          <a:p>
            <a:pPr>
              <a:spcAft>
                <a:spcPts val="600"/>
              </a:spcAft>
              <a:defRPr sz="1300">
                <a:solidFill>
                  <a:srgbClr val="4A4A4A"/>
                </a:solidFill>
                <a:latin typeface="Segoe UI"/>
              </a:defRPr>
            </a:pPr>
            <a:r>
              <a:t>• Sem registros de biometria comportamental + ML + blockchain</a:t>
            </a:r>
          </a:p>
          <a:p>
            <a:pPr>
              <a:spcAft>
                <a:spcPts val="600"/>
              </a:spcAft>
              <a:defRPr sz="1300">
                <a:solidFill>
                  <a:srgbClr val="4A4A4A"/>
                </a:solidFill>
                <a:latin typeface="Segoe UI"/>
              </a:defRPr>
            </a:pPr>
            <a:r>
              <a:t>• Patentes da unico em biometria facial e validação documental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029200" cy="228600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9E41"/>
                </a:solidFill>
                <a:latin typeface="Segoe UI"/>
              </a:defRPr>
            </a:pPr>
            <a:r>
              <a:t>Diretrizes de IA no INPI (Ago/2025)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4A4A4A"/>
                </a:solidFill>
                <a:latin typeface="Segoe UI"/>
              </a:defRPr>
            </a:pPr>
            <a:r>
              <a:t>• Consulta pública sobre patentes de IA</a:t>
            </a:r>
          </a:p>
          <a:p>
            <a:pPr>
              <a:spcAft>
                <a:spcPts val="600"/>
              </a:spcAft>
              <a:defRPr sz="1300">
                <a:solidFill>
                  <a:srgbClr val="4A4A4A"/>
                </a:solidFill>
                <a:latin typeface="Segoe UI"/>
              </a:defRPr>
            </a:pPr>
            <a:r>
              <a:t>• Modelos de IA, invenções baseadas em IA, invenções assistidas por IA</a:t>
            </a:r>
          </a:p>
          <a:p>
            <a:pPr>
              <a:spcAft>
                <a:spcPts val="600"/>
              </a:spcAft>
              <a:defRPr sz="1300">
                <a:solidFill>
                  <a:srgbClr val="4A4A4A"/>
                </a:solidFill>
                <a:latin typeface="Segoe UI"/>
              </a:defRPr>
            </a:pPr>
            <a:r>
              <a:t>• Amadurecimento regulatório para proteção futura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06240"/>
            <a:ext cx="10515600" cy="219456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9E41"/>
                </a:solidFill>
                <a:latin typeface="Segoe UI"/>
              </a:defRPr>
            </a:pPr>
            <a:r>
              <a:t>Relação com a Proposta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754880"/>
            <a:ext cx="10149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A ausência de patentes no INPI que integrem autenticação adaptativa com ML, biometria comportamental, blockchain e explicabilidade de IA evidencia o caráter inovador da proposta. O sistema se posiciona em uma lacuna de propriedade intelectual no cenário brasileiro, combinando elementos que, individualmente, já possuem registro, mas que em conjunto representam uma contribuição original.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unico|check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E0B0"/>
                </a:solidFill>
                <a:latin typeface="Segoe UI"/>
              </a:defRPr>
            </a:pPr>
            <a:r>
              <a:t>Unico IDTech — 2007 (Acesso Digital) / 2020 (rebrand)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237744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9E41"/>
                </a:solidFill>
                <a:latin typeface="Segoe UI"/>
              </a:defRPr>
            </a:pPr>
            <a:r>
              <a:t>Descrição do Projeto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Maior IDTech brasileira (fundada em 2007 como Acesso Digital, renomeada para unico em 2020). O unico|check oferece validação e autenticação de identidade por biometria facial com resposta em &lt;3s. Mantém base proprietária de faces e CPFs cobrindo &gt;90% da população. Atende 800+ empresas, incluindo 9 dos 10 maiores varejistas e 4 dos 5 maiores bancos do Brasil. Após aquisições da Trully (México) e Oz Forensics (EAU), opera em 23+ países.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23360"/>
            <a:ext cx="11064240" cy="246888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9E41"/>
                </a:solidFill>
                <a:latin typeface="Segoe UI"/>
              </a:defRPr>
            </a:pPr>
            <a:r>
              <a:t>Comparação com a Proposta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A proposta diferencia-se em quatro aspectos: (i) emprega biometria COMPORTAMENTAL (dinâmica de digitação) em vez de biometria facial física, sendo contínua e não-intrusiva; (ii) implementa ENSEMBLE explícito de 3 algoritmos (IF 40% + RF 30% + DL 30%) contra solução proprietária black-box; (iii) registra cada decisão em BLOCKCHAIN dual (Hyperledger Fabric + Ethereum) para auditoria imutável; (iv) oferece EXPLICABILIDADE via SHAP de cada decisão — recurso ausente em soluções proprietárias.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unico|people (ex-Acesso Digital / AcessoRH)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E0B0"/>
                </a:solidFill>
                <a:latin typeface="Segoe UI"/>
              </a:defRPr>
            </a:pPr>
            <a:r>
              <a:t>Unico — Plataforma de Admissão Digital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237744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9E41"/>
                </a:solidFill>
                <a:latin typeface="Segoe UI"/>
              </a:defRPr>
            </a:pPr>
            <a:r>
              <a:t>Descrição do Projeto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Plataforma de admissão digital da unico (antes AcessoRH/Acesso Digital) que digitaliza o processo de contratação em RH com biometria facial e assinatura eletrônica. Processa ~30 mil admissões/mês em 400+ empresas, com admissões concluídas em até 20 minutos. Integra captura biométrica, validação documental e assinatura eletrônica em fluxo único, eliminando papelada e presença física no onboarding de colaboradores.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23360"/>
            <a:ext cx="11064240" cy="246888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9E41"/>
                </a:solidFill>
                <a:latin typeface="Segoe UI"/>
              </a:defRPr>
            </a:pPr>
            <a:r>
              <a:t>Comparação com a Proposta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É uma solução one-shot (biometria validada uma vez na admissão) em vertical específica (RH). A proposta atua em outra camada: AUTENTICAÇÃO CONTÍNUA E ADAPTATIVA de usuários durante a operação cotidiana. Diferenciais: (i) score dinâmico em 4 NÍVEIS (permitir, MFA, MFA+alerta, bloquear) vs. decisão binária; (ii) DETECÇÃO DE DERIVA comportamental ao longo do tempo, capturando mudanças no padrão do colaborador APÓS a admissão; (iii) trilha de evidências em BLOCKCHAIN para compliance e investigação de incidentes.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idwall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E0B0"/>
                </a:solidFill>
                <a:latin typeface="Segoe UI"/>
              </a:defRPr>
            </a:pPr>
            <a:r>
              <a:t>Plataforma all-in-one de identidade digital — 2016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237744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9E41"/>
                </a:solidFill>
                <a:latin typeface="Segoe UI"/>
              </a:defRPr>
            </a:pPr>
            <a:r>
              <a:t>Descrição do Projeto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Empresa brasileira fundada em 2016, oferece plataforma all-in-one de gestão de identidade digital com forte uso de ML/IA. Automatiza KYC via extração de dados por OCR baseado em ML, validação documental e biométrica, e background check judicial. Opera laboratório dedicado a antifraude reunindo cientistas de dados, especialistas em IA generativa e analistas de fraude para detecção contínua de padrões suspeitos.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23360"/>
            <a:ext cx="11064240" cy="246888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9E41"/>
                </a:solidFill>
                <a:latin typeface="Segoe UI"/>
              </a:defRPr>
            </a:pPr>
            <a:r>
              <a:t>Comparação com a Proposta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A idwall foca em KYC e onboarding (entrada do sistema). A proposta atua em AUTENTICAÇÃO CONTÍNUA durante o uso, monitorando comportamento a cada interação. Diferenciais: (i) ENSEMBLE especializado de 3 paradigmas de ML com pesos ajustáveis e 14 features, contra abordagens majoritariamente caixa-preta; (ii) EXPLICABILIDADE via SHAP, permitindo a auditores compreenderem por que um acesso foi negado; (iii) BLOCKCHAIN para trilha de auditoria imutável das decisões — não disponível na oferta atual da idwall.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CAF — Combate à Fraude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E0B0"/>
                </a:solidFill>
                <a:latin typeface="Segoe UI"/>
              </a:defRPr>
            </a:pPr>
            <a:r>
              <a:t>2019 — Venâncio Aires-RS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237744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9E41"/>
                </a:solidFill>
                <a:latin typeface="Segoe UI"/>
              </a:defRPr>
            </a:pPr>
            <a:r>
              <a:t>Descrição do Projeto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Fundada em agosto de 2019 em Venâncio Aires (RS) como subsidiária da fintech Mutual. Mantém escritórios em SP, RJ, Londres, Toronto e Austin. Especialista em biometria, documentoscopia e ORQUESTRAÇÃO DE IDENTIDADE: combina identificação documental, validação semi-automática e biometria facial por IA. Em 2024, lançou solução específica para fraudes em apostas esportivas. Integra a API judicial Judit para enriquecer dados de antifraude.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23360"/>
            <a:ext cx="11064240" cy="246888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9E41"/>
                </a:solidFill>
                <a:latin typeface="Segoe UI"/>
              </a:defRPr>
            </a:pPr>
            <a:r>
              <a:t>Comparação com a Proposta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O conceito de ORQUESTRAÇÃO de identidade é alinhado à filosofia da proposta. A diferença está no escopo e componentes: a CAF orquestra documentoscopia + biometria facial + API judicial para fraude transacional; a proposta orquestra dinâmica de digitação + geolocalização + contexto + ensemble de ML para autenticação contínua web. Diferenciais: (i) resposta em 4 NÍVEIS vs. fluxos binários; (ii) DERIVA COMPORTAMENTAL integrada; (iii) EXPLICABILIDADE registrada em BLOCKCHAIN; (iv) arquitetura ABERTA e reprodutível.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gov.br / Serpro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E0B0"/>
                </a:solidFill>
                <a:latin typeface="Segoe UI"/>
              </a:defRPr>
            </a:pPr>
            <a:r>
              <a:t>Plataforma Federal de Identidade Digital — 2019/2021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237744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9E41"/>
                </a:solidFill>
                <a:latin typeface="Segoe UI"/>
              </a:defRPr>
            </a:pPr>
            <a:r>
              <a:t>Descrição do Projeto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Maior iniciativa pública brasileira de identidade digital, com 115+ milhões de usuários cadastrados. Oferece login único para serviços públicos e organiza usuários em 3 níveis de confiabilidade (bronze, prata, ouro) implementados em março/2021 conforme criticidade dos dados acessados. Disponibiliza 2FA desde maio/2021 e carteira digital de documentos. O Serpro fornece ainda o DATAVALID — API com 3 camadas de validação (biográfica, biometria facial, biometria digital), adotada por 55 clientes em 25 países.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23360"/>
            <a:ext cx="11064240" cy="246888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9E41"/>
                </a:solidFill>
                <a:latin typeface="Segoe UI"/>
              </a:defRPr>
            </a:pPr>
            <a:r>
              <a:t>Comparação com a Proposta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A gov.br usa NÍVEIS DISCRETOS (bronze/prata/ouro) escolhidos pelo serviço-alvo — exigência ESTÁTICA, não adaptativa ao comportamento. A proposta recomputa o nível DINAMICAMENTE a cada interação. Diferenciais: (i) biometria COMPORTAMENTAL vs. facial/digital; (ii) BLOCKCHAIN auditável vs. base relacional tradicional; (iii) EXPLICABILIDADE por decisão. A proposta pode ser entendida como COMPLEMENTAR à gov.br: integrável como camada adicional de score contínuo sobre o Login Único.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Síntese Comparativa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E0B0"/>
                </a:solidFill>
                <a:latin typeface="Segoe UI"/>
              </a:defRPr>
            </a:pPr>
            <a:r>
              <a:t>Diferenciais da Proposta vs. Projetos Brasileiros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82880" y="1417320"/>
          <a:ext cx="117957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097280"/>
                <a:gridCol w="1280160"/>
                <a:gridCol w="1280160"/>
                <a:gridCol w="1280160"/>
                <a:gridCol w="1280160"/>
                <a:gridCol w="210312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Característica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Proposta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unico|check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unico|people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idwall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CAF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gov.br/Serpro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Biometria comportamental (digitação)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F9E41"/>
                          </a:solidFill>
                          <a:latin typeface="Segoe U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 (facial)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 (facial)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Parcial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Parcial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Ensemble de 3 algoritmos com pesos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F9E41"/>
                          </a:solidFill>
                          <a:latin typeface="Segoe U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Proprietário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Proprietário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Proprietário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Proprietário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 divulgado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Score contínuo (0.0–1.0) c/ 4 níveis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F9E41"/>
                          </a:solidFill>
                          <a:latin typeface="Segoe U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Binário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Binário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Binário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Binário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3 níveis fixos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Blockchain para auditoria imutável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F9E41"/>
                          </a:solidFill>
                          <a:latin typeface="Segoe U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Explicabilidade via SHAP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F9E41"/>
                          </a:solidFill>
                          <a:latin typeface="Segoe U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Detecção de deriva comportamental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F9E41"/>
                          </a:solidFill>
                          <a:latin typeface="Segoe U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Parcial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Autenticação contínua (não one-shot)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F9E41"/>
                          </a:solidFill>
                          <a:latin typeface="Segoe U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Código aberto e reprodutível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F9E41"/>
                          </a:solidFill>
                          <a:latin typeface="Segoe U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Proprietário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Proprietário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Proprietário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Proprietário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Parcial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MFA adaptativo condicionado ao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F9E41"/>
                          </a:solidFill>
                          <a:latin typeface="Segoe U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Estático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Lacunas no Cenário Brasileiro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E0B0"/>
                </a:solidFill>
                <a:latin typeface="Segoe UI"/>
              </a:defRPr>
            </a:pPr>
            <a:r>
              <a:t>Contribuições originais da proposta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640080" cy="45720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5544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6B2A"/>
                </a:solidFill>
                <a:latin typeface="Segoe UI"/>
              </a:defRPr>
            </a:pPr>
            <a:r>
              <a:t>Autenticação contínua e adaptativa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9659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4A4A"/>
                </a:solidFill>
                <a:latin typeface="Segoe UI"/>
              </a:defRPr>
            </a:pPr>
            <a:r>
              <a:t>Nenhum dos 5 projetos analisados implementa autenticação contínua com score recomputado a cada interação — todos operam com decisões one-shot na entrada do sistema.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640080" cy="45720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8346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7889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6B2A"/>
                </a:solidFill>
                <a:latin typeface="Segoe UI"/>
              </a:defRPr>
            </a:pPr>
            <a:r>
              <a:t>Blockchain para auditoria de decisões de 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2004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4A4A"/>
                </a:solidFill>
                <a:latin typeface="Segoe UI"/>
              </a:defRPr>
            </a:pPr>
            <a:r>
              <a:t>Nenhuma das soluções utiliza blockchain como camada de auditoria imutável das decisões de autenticação tomadas por modelos de IA.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640080" cy="457200"/>
          </a:xfrm>
          <a:prstGeom prst="roundRect">
            <a:avLst>
              <a:gd name="adj" fmla="val 10000"/>
            </a:avLst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69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0233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6B2A"/>
                </a:solidFill>
                <a:latin typeface="Segoe UI"/>
              </a:defRPr>
            </a:pPr>
            <a:r>
              <a:t>Explicabilidade de IA em autenticação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3484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4A4A"/>
                </a:solidFill>
                <a:latin typeface="Segoe UI"/>
              </a:defRPr>
            </a:pPr>
            <a:r>
              <a:t>As 5 soluções operam como caixas-pretas. A proposta aplica SHAP especificamente para autenticação, registrando a explicação em blockchain.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257800"/>
            <a:ext cx="640080" cy="457200"/>
          </a:xfrm>
          <a:prstGeom prst="roundRect">
            <a:avLst>
              <a:gd name="adj" fmla="val 10000"/>
            </a:avLst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30352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2578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6B2A"/>
                </a:solidFill>
                <a:latin typeface="Segoe UI"/>
              </a:defRPr>
            </a:pPr>
            <a:r>
              <a:t>Ensemble explícito de 3 paradigmas + 4 níveis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66928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4A4A"/>
                </a:solidFill>
                <a:latin typeface="Segoe UI"/>
              </a:defRPr>
            </a:pPr>
            <a:r>
              <a:t>A combinação ponderada (IF + RF + DL) com resposta escalonada (permitir/MFA/MFA+alerta/bloquear) não foi identificada nos projetos brasileiros analisados.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Referências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4A4A4A"/>
                </a:solidFill>
                <a:latin typeface="Segoe UI"/>
              </a:defRPr>
            </a:pPr>
            <a:r>
              <a:t>• Unico IDTech — unico.io/sobre-nos e unico.io/unico-idtech</a:t>
            </a:r>
          </a:p>
          <a:p>
            <a:pPr>
              <a:spcAft>
                <a:spcPts val="600"/>
              </a:spcAft>
              <a:defRPr sz="1400">
                <a:solidFill>
                  <a:srgbClr val="4A4A4A"/>
                </a:solidFill>
                <a:latin typeface="Segoe UI"/>
              </a:defRPr>
            </a:pPr>
            <a:r>
              <a:t>• CryptoID — "Acesso Digital agora é unico" (rebrand 2020)</a:t>
            </a:r>
          </a:p>
          <a:p>
            <a:pPr>
              <a:spcAft>
                <a:spcPts val="600"/>
              </a:spcAft>
              <a:defRPr sz="1400">
                <a:solidFill>
                  <a:srgbClr val="4A4A4A"/>
                </a:solidFill>
                <a:latin typeface="Segoe UI"/>
              </a:defRPr>
            </a:pPr>
            <a:r>
              <a:t>• Unico People — unico.io/unico-people/admissao-digital</a:t>
            </a:r>
          </a:p>
          <a:p>
            <a:pPr>
              <a:spcAft>
                <a:spcPts val="600"/>
              </a:spcAft>
              <a:defRPr sz="1400">
                <a:solidFill>
                  <a:srgbClr val="4A4A4A"/>
                </a:solidFill>
                <a:latin typeface="Segoe UI"/>
              </a:defRPr>
            </a:pPr>
            <a:r>
              <a:t>• idwall — idwall.co (plataforma all-in-one) e blog.idwall.co</a:t>
            </a:r>
          </a:p>
          <a:p>
            <a:pPr>
              <a:spcAft>
                <a:spcPts val="600"/>
              </a:spcAft>
              <a:defRPr sz="1400">
                <a:solidFill>
                  <a:srgbClr val="4A4A4A"/>
                </a:solidFill>
                <a:latin typeface="Segoe UI"/>
              </a:defRPr>
            </a:pPr>
            <a:r>
              <a:t>• CAF — Combate à Fraude — caf.io/pt e Finsiders Brasil</a:t>
            </a:r>
          </a:p>
          <a:p>
            <a:pPr>
              <a:spcAft>
                <a:spcPts val="600"/>
              </a:spcAft>
              <a:defRPr sz="1400">
                <a:solidFill>
                  <a:srgbClr val="4A4A4A"/>
                </a:solidFill>
                <a:latin typeface="Segoe UI"/>
              </a:defRPr>
            </a:pPr>
            <a:r>
              <a:t>• Serpro — serpro.gov.br (Serviços de identidade digital, 2026)</a:t>
            </a:r>
          </a:p>
          <a:p>
            <a:pPr>
              <a:spcAft>
                <a:spcPts val="600"/>
              </a:spcAft>
              <a:defRPr sz="1400">
                <a:solidFill>
                  <a:srgbClr val="4A4A4A"/>
                </a:solidFill>
                <a:latin typeface="Segoe UI"/>
              </a:defRPr>
            </a:pPr>
            <a:r>
              <a:t>• Serpro — Verificação em duas etapas gov.br (2025)</a:t>
            </a:r>
          </a:p>
          <a:p>
            <a:pPr>
              <a:spcAft>
                <a:spcPts val="600"/>
              </a:spcAft>
              <a:defRPr sz="1400">
                <a:solidFill>
                  <a:srgbClr val="4A4A4A"/>
                </a:solidFill>
                <a:latin typeface="Segoe UI"/>
              </a:defRPr>
            </a:pPr>
            <a:r>
              <a:t>• INPI — Consulta Pública sobre Diretrizes de IA (2025)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20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IFBA - Instituto Federal da Bahia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860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A6B2A"/>
                </a:solidFill>
                <a:latin typeface="Segoe UI"/>
              </a:defRPr>
            </a:pPr>
            <a:r>
              <a:t>Obrigado!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291840"/>
            <a:ext cx="3017520" cy="36576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6B2A"/>
                </a:solidFill>
                <a:latin typeface="Segoe UI"/>
              </a:defRPr>
            </a:pPr>
            <a:r>
              <a:t>Sistema Autônomo de Autenticação Inteligente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Trabalhos Relacionados — Projetos Brasileiros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17920"/>
            <a:ext cx="12191695" cy="73152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