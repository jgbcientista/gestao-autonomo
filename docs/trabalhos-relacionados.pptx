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28"/>
    <p:sldId id="259" r:id="rId29"/>
    <p:sldId id="260" r:id="rId30"/>
    <p:sldId id="261" r:id="rId31"/>
    <p:sldId id="262" r:id="rId11"/>
    <p:sldId id="263" r:id="rId32"/>
    <p:sldId id="264" r:id="rId18"/>
    <p:sldId id="265" r:id="rId33"/>
    <p:sldId id="266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INSTITUTO FEDERAL DE EDUCAÇÃO, CIÊNCIA E TECNOLOGIA DA BAHIA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48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IFBA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1A6B2A"/>
                </a:solidFill>
                <a:latin typeface="Segoe UI"/>
              </a:defRPr>
            </a:pPr>
            <a:r>
              <a:t>TRABALHOS RELACIONADOS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4A4A"/>
                </a:solidFill>
                <a:latin typeface="Segoe UI"/>
              </a:defRPr>
            </a:pPr>
            <a:r>
              <a:t>Literatura Acadêmica e Projetos Brasileiros da Indústria</a:t>
            </a:r>
            <a:br/>
            <a:r>
              <a:t>em Autenticação Digital, Biometria e Prevenção a Fraude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3566160"/>
            <a:ext cx="3017520" cy="36576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6B2A"/>
                </a:solidFill>
                <a:latin typeface="Segoe UI"/>
              </a:defRPr>
            </a:pPr>
            <a:r>
              <a:t>Sistema Autônomo de Autenticação Inteligente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Discente: João Guedes de Brito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Orientador: Prof. Cleber Jorge Lira de Santana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17920"/>
            <a:ext cx="12191695" cy="73152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Salvador - BA |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1463040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4904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49047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Contexto e Objetivo da Revisão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993392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02082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020824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Quadros Comparativos — Academia e Indústria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523744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255117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551176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Pesquisa no INPI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054095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81527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81527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Biometria e Autenticação Contínua (Killourhy, Touchalytics, unico)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3584448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36118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6118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Autenticação Adaptativa e KYC (Wiefling/RBA, idwall, CAF)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114800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41422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142232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Núcleo de IA: Ensemble (Isolation Forest) e XAI/SHAP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4645151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4672583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672583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gov.br / Serpro — Identidade Digital Federal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5175503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5202935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202935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Síntese Comparativa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71600" y="5705856"/>
            <a:ext cx="640080" cy="41148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17320" y="57332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73328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Lacunas e Contribuições Originais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Contexto e Objetivo da Revisão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Segoe UI"/>
              </a:defRPr>
            </a:pPr>
            <a:r>
              <a:t>Esta revisão abrange a literatura acadêmica internacional e projetos brasileiros da indústria que abordam, parcial ou integralmente, os pilares da proposta: autenticação digital, biometria comportamental, machine learning, explicabilidade e gestão de identidade. Foram selecionados 5 trabalhos acadêmicos de referência e 5 projetos da indústria, apresentados de forma intercalada por tema.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Isolation Forest (40%)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Random Forest (30%)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Deep Learning (30%)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Score unificado 0.0-1.0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92608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Biometria e Contexto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38328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Dinâmica de digitação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Geolocalização por IP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Análise de sessão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Deriva comportamental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92608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017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Segoe UI"/>
              </a:defRPr>
            </a:pPr>
            <a:r>
              <a:t>Blockchain e XAI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383280"/>
            <a:ext cx="2926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Hyperledger Fabric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Ethereum (Web3j)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Auditoria imutável</a:t>
            </a:r>
          </a:p>
          <a:p>
            <a:pPr>
              <a:spcAft>
                <a:spcPts val="600"/>
              </a:spcAft>
              <a:defRPr sz="1200">
                <a:solidFill>
                  <a:srgbClr val="4A4A4A"/>
                </a:solidFill>
                <a:latin typeface="Segoe UI"/>
              </a:defRPr>
            </a:pPr>
            <a:r>
              <a:t>• Explicabilidade via SHAP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Quadro Comparativo — Indústria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5 Projetos da Indústria Brasileira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4630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377440"/>
                <a:gridCol w="731520"/>
                <a:gridCol w="2194560"/>
                <a:gridCol w="2194560"/>
                <a:gridCol w="2377440"/>
              </a:tblGrid>
              <a:tr h="838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Projeto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Proposta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Objetivo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Produção / Experimento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Métricas / Resultados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unico|check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Validação de identidade por biometria facial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2007/2020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Autenticar identidades em fintechs e bancos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800+ empresas, 4 dos 5 maiores bancos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&lt;3s, 23+ países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unico|people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Admissão digital com biometria (ex-Acesso Digital)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2007/2020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Digitalizar admissão em RH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400+ empresas, ~30k admissões/mês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Admissão em ~20 min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idwall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Identidade digital all-in-one + KYC com 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KYC automatizado e antifraude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Fintechs, bancos e marketplaces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OCR via ML, lab de antifraude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CAF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Orquestração de identidade + biometria + 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Antifraude e validação de identidade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SP, RJ, Londres, Toronto, Austin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Documentoscopia + biometria + 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gov.br / Serpro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Plataforma federal de identidade digital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2019/2021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Autenticação única para serviços públicos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115M+ usuários cadastrados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3 níveis (ouro/prata/bronze), 2FA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Pesquisa no INPI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Instituto Nacional da Propriedade Industrial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029200" cy="22860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9E41"/>
                </a:solidFill>
                <a:latin typeface="Segoe UI"/>
              </a:defRPr>
            </a:pPr>
            <a:r>
              <a:t>Resultados da Busca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~47 pedidos de patentes relacionados a blockchain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Nenhum combinando todos os elementos da proposta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Sem registros de biometria comportamental + ML + blockchain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Patentes da unico em biometria facial e validação documental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029200" cy="22860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9E41"/>
                </a:solidFill>
                <a:latin typeface="Segoe UI"/>
              </a:defRPr>
            </a:pPr>
            <a:r>
              <a:t>Diretrizes de IA no INPI (Ago/2025)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Consulta pública sobre patentes de IA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Modelos de IA, invenções baseadas em IA, invenções assistidas por IA</a:t>
            </a:r>
          </a:p>
          <a:p>
            <a:pPr>
              <a:spcAft>
                <a:spcPts val="6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• Amadurecimento regulatório para proteção futura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10515600" cy="219456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9E41"/>
                </a:solidFill>
                <a:latin typeface="Segoe UI"/>
              </a:defRPr>
            </a:pPr>
            <a:r>
              <a:t>Relação com a Proposta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ausência de patentes no INPI que integrem autenticação adaptativa com ML, biometria comportamental, blockchain e explicabilidade de IA evidencia o caráter inovador da proposta. O sistema se posiciona em uma lacuna de propriedade intelectual no cenário brasileiro, combinando elementos que, individualmente, já possuem registro, mas que em conjunto representam uma contribuição original.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unico|check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Unico IDTech — 2007 (Acesso Digital) / 2020 (rebrand)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Descrição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Maior IDTech brasileira (fundada em 2007 como Acesso Digital, renomeada para unico em 2020). O unico|check oferece validação e autenticação de identidade por biometria facial com resposta em &lt;3s. Mantém base proprietária de faces e CPFs cobrindo &gt;90% da população. Atende 800+ empresas, incluindo 9 dos 10 maiores varejistas e 4 dos 5 maiores bancos do Brasil. Após aquisições da Trully (México) e Oz Forensics (EAU), opera em 23+ países.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proposta diferencia-se em quatro aspectos: (i) emprega biometria COMPORTAMENTAL (dinâmica de digitação) em vez de biometria facial física, sendo contínua e não-intrusiva; (ii) implementa ENSEMBLE explícito de 3 algoritmos (IF 40% + RF 30% + DL 30%) contra solução proprietária black-box; (iii) registra cada decisão em BLOCKCHAIN dual (Hyperledger Fabric + Ethereum) para auditoria imutável; (iv) oferece EXPLICABILIDADE via SHAP de cada decisão — recurso ausente em soluções proprietárias.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unico|people (ex-Acesso Digital / AcessoRH)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Unico — Plataforma de Admissão Digital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Descrição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Plataforma de admissão digital da unico (antes AcessoRH/Acesso Digital) que digitaliza o processo de contratação em RH com biometria facial e assinatura eletrônica. Processa ~30 mil admissões/mês em 400+ empresas, com admissões concluídas em até 20 minutos. Integra captura biométrica, validação documental e assinatura eletrônica em fluxo único, eliminando papelada e presença física no onboarding de colaboradores.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É uma solução one-shot (biometria validada uma vez na admissão) em vertical específica (RH). A proposta atua em outra camada: AUTENTICAÇÃO CONTÍNUA E ADAPTATIVA de usuários durante a operação cotidiana. Diferenciais: (i) score dinâmico em 4 NÍVEIS (permitir, MFA, MFA+alerta, bloquear) vs. decisão binária; (ii) DETECÇÃO DE DERIVA comportamental ao longo do tempo, capturando mudanças no padrão do colaborador APÓS a admissão; (iii) trilha de evidências em BLOCKCHAIN para compliance e investigação de incidentes.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idwall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Plataforma all-in-one de identidade digital — 2016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Descrição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Empresa brasileira fundada em 2016, oferece plataforma all-in-one de gestão de identidade digital com forte uso de ML/IA. Automatiza KYC via extração de dados por OCR baseado em ML, validação documental e biométrica, e background check judicial. Opera laboratório dedicado a antifraude reunindo cientistas de dados, especialistas em IA generativa e analistas de fraude para detecção contínua de padrões suspeitos.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idwall foca em KYC e onboarding (entrada do sistema). A proposta atua em AUTENTICAÇÃO CONTÍNUA durante o uso, monitorando comportamento a cada interação. Diferenciais: (i) ENSEMBLE especializado de 3 paradigmas de ML com pesos ajustáveis e 14 features, contra abordagens majoritariamente caixa-preta; (ii) EXPLICABILIDADE via SHAP, permitindo a auditores compreenderem por que um acesso foi negado; (iii) BLOCKCHAIN para trilha de auditoria imutável das decisões — não disponível na oferta atual da idwall.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CAF — Combate à Fraude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2019 — Venâncio Aires-RS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Descrição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Fundada em agosto de 2019 em Venâncio Aires (RS) como subsidiária da fintech Mutual. Mantém escritórios em SP, RJ, Londres, Toronto e Austin. Especialista em biometria, documentoscopia e ORQUESTRAÇÃO DE IDENTIDADE: combina identificação documental, validação semi-automática e biometria facial por IA. Em 2024, lançou solução específica para fraudes em apostas esportivas. Integra a API judicial Judit para enriquecer dados de antifraude.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conceito de ORQUESTRAÇÃO de identidade é alinhado à filosofia da proposta. A diferença está no escopo e componentes: a CAF orquestra documentoscopia + biometria facial + API judicial para fraude transacional; a proposta orquestra dinâmica de digitação + geolocalização + contexto + ensemble de ML para autenticação contínua web. Diferenciais: (i) resposta em 4 NÍVEIS vs. fluxos binários; (ii) DERIVA COMPORTAMENTAL integrada; (iii) EXPLICABILIDADE registrada em BLOCKCHAIN; (iv) arquitetura ABERTA e reprodutível.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gov.br / Serpro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Plataforma Federal de Identidade Digital — 2019/2021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Descrição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Maior iniciativa pública brasileira de identidade digital, com 115+ milhões de usuários cadastrados. Oferece login único para serviços públicos e organiza usuários em 3 níveis de confiabilidade (bronze, prata, ouro) implementados em março/2021 conforme criticidade dos dados acessados. Disponibiliza 2FA desde maio/2021 e carteira digital de documentos. O Serpro fornece ainda o DATAVALID — API com 3 camadas de validação (biográfica, biometria facial, biometria digital), adotada por 55 clientes em 25 países.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9E41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gov.br usa NÍVEIS DISCRETOS (bronze/prata/ouro) escolhidos pelo serviço-alvo — exigência ESTÁTICA, não adaptativa ao comportamento. A proposta recomputa o nível DINAMICAMENTE a cada interação. Diferenciais: (i) biometria COMPORTAMENTAL vs. facial/digital; (ii) BLOCKCHAIN auditável vs. base relacional tradicional; (iii) EXPLICABILIDADE por decisão. A proposta pode ser entendida como COMPLEMENTAR à gov.br: integrável como camada adicional de score contínuo sobre o Login Único.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Síntese Comparativa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Diferenciais da Proposta vs. Projetos Brasileiros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417320"/>
          <a:ext cx="117957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097280"/>
                <a:gridCol w="1280160"/>
                <a:gridCol w="1280160"/>
                <a:gridCol w="1280160"/>
                <a:gridCol w="128016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Característica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Proposta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unico|check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unico|people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idwall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CAF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gov.br/Serpro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Biometria comportamental (digitação)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 (facial)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 (facial)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Ensemble de 3 algoritmos com pesos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 divulgado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Score contínuo (0.0–1.0) c/ 4 níveis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Binário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Binário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Binário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Binário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3 níveis fixos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Blockchain para auditoria imutável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Explicabilidade via SHAP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Detecção de deriva comportamental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Autenticação contínua (não one-shot)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Código aberto e reprodutível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Proprietário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Parcial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MFA adaptativo condicionado ao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F9E41"/>
                          </a:solidFill>
                          <a:latin typeface="Segoe UI"/>
                        </a:defRPr>
                      </a:pPr>
                      <a:r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Não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Estático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Lacunas Identificadas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Contribuições originais da proposta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5544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2A"/>
                </a:solidFill>
                <a:latin typeface="Segoe UI"/>
              </a:defRPr>
            </a:pPr>
            <a:r>
              <a:t>Autenticação contínua e adaptativa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96596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Trabalhos como o Touchalytics provam a viabilidade da autenticação contínua, mas nem a indústria nem a academia revisada a integram à digitação web com score recomputado a cada interação e resposta em 4 níveis.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7889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2A"/>
                </a:solidFill>
                <a:latin typeface="Segoe UI"/>
              </a:defRPr>
            </a:pPr>
            <a:r>
              <a:t>Blockchain para auditoria de decisões de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Nenhuma das soluções utiliza blockchain como camada de auditoria imutável das decisões de autenticação tomadas por modelos de 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69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0233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2A"/>
                </a:solidFill>
                <a:latin typeface="Segoe UI"/>
              </a:defRPr>
            </a:pPr>
            <a:r>
              <a:t>Explicabilidade de IA em autenticação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348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 explicabilidade via SHAP aparece na academia para detecção de intrusão (Wang et al., 2020), mas não aplicada à autenticação nem com a explicação registrada em blockchain, como na proposta.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57800"/>
            <a:ext cx="640080" cy="457200"/>
          </a:xfrm>
          <a:prstGeom prst="roundRect">
            <a:avLst>
              <a:gd name="adj" fmla="val 10000"/>
            </a:avLst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3035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257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6B2A"/>
                </a:solidFill>
                <a:latin typeface="Segoe UI"/>
              </a:defRPr>
            </a:pPr>
            <a:r>
              <a:t>Ensemble explícito de 3 paradigmas + 4 níveis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6692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 combinação ponderada (Isolation Forest + Random Forest + Deep Learning) com resposta escalonada (permitir/MFA/MFA+alerta/bloquear) não foi identificada de forma integrada nos trabalhos acadêmicos ou industriais analisados.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Unico IDTech — unico.io/sobre-nos e unico.io/unico-idtech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CryptoID — "Acesso Digital agora é unico" (rebrand 2020)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Unico People — unico.io/unico-people/admissao-digital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idwall — idwall.co (plataforma all-in-one) e blog.idwall.co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CAF — Combate à Fraude — caf.io/pt e Finsiders Brasil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Serpro — serpro.gov.br (Serviços de identidade digital, 2026)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Serpro — Verificação em duas etapas gov.br (2025)</a:t>
            </a:r>
          </a:p>
          <a:p>
            <a:pPr>
              <a:spcAft>
                <a:spcPts val="600"/>
              </a:spcAft>
              <a:defRPr sz="1400">
                <a:solidFill>
                  <a:srgbClr val="4A4A4A"/>
                </a:solidFill>
                <a:latin typeface="Segoe UI"/>
              </a:defRPr>
            </a:pPr>
            <a:r>
              <a:t>• INPI — Consulta Pública sobre Diretrizes de IA (2025)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IFBA - Instituto Federal da Bahia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A6B2A"/>
                </a:solidFill>
                <a:latin typeface="Segoe UI"/>
              </a:defRPr>
            </a:pPr>
            <a:r>
              <a:t>Obrigado!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291840"/>
            <a:ext cx="3017520" cy="36576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6B2A"/>
                </a:solidFill>
                <a:latin typeface="Segoe UI"/>
              </a:defRPr>
            </a:pPr>
            <a:r>
              <a:t>Sistema Autônomo de Autenticação Inteligente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Trabalhos Relacionados — Projetos Brasileiros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73152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Quadro Comparativo — Literatura Acadêmica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5D5F0"/>
                </a:solidFill>
                <a:latin typeface="Segoe UI"/>
              </a:defRPr>
            </a:pPr>
            <a:r>
              <a:t>5 Trabalhos Acadêmicos de Referência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4630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377440"/>
                <a:gridCol w="731520"/>
                <a:gridCol w="2194560"/>
                <a:gridCol w="2194560"/>
                <a:gridCol w="2377440"/>
              </a:tblGrid>
              <a:tr h="838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Trabalho</a:t>
                      </a:r>
                    </a:p>
                  </a:txBody>
                  <a:tcPr>
                    <a:solidFill>
                      <a:srgbClr val="1351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Proposta</a:t>
                      </a:r>
                    </a:p>
                  </a:txBody>
                  <a:tcPr>
                    <a:solidFill>
                      <a:srgbClr val="1351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Ano</a:t>
                      </a:r>
                    </a:p>
                  </a:txBody>
                  <a:tcPr>
                    <a:solidFill>
                      <a:srgbClr val="1351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Objetivo</a:t>
                      </a:r>
                    </a:p>
                  </a:txBody>
                  <a:tcPr>
                    <a:solidFill>
                      <a:srgbClr val="1351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Experimento / Dataset</a:t>
                      </a:r>
                    </a:p>
                  </a:txBody>
                  <a:tcPr>
                    <a:solidFill>
                      <a:srgbClr val="1351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Métricas / Resultados</a:t>
                      </a:r>
                    </a:p>
                  </a:txBody>
                  <a:tcPr>
                    <a:solidFill>
                      <a:srgbClr val="1351B4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Killourhy &amp; Maxion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Benchmark de keystroke dynamics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Comparar detectores de anomalia da digitação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51 sujeitos, senha ".tie5Roanl", 400 amostras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Melhor EER ≈ 9,6% (Manhattan)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Frank et al. (Touchalytics)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Biometria comportamental de toque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Autenticar continuamente em smartphones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41 usuários, 30 features, kNN/SVM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EER 0% intra / 2-3% entre sessões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Wiefling et 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Estudo empírico de Risk-Based Auth.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Mapear RBA em serviços reais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8 serviços online (Google, GOG…)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IP = feature dominante; baixa transparência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Liu, Ting &amp; Zhou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Isolation Forest (anomalias)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2008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Isolar anomalias com árvores aleatórias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Benchmarks de detecção (ICDM)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Tempo linear, escalável, baixa memória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Wang et 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Framework de explicabilidade (SHAP)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Explicar decisões de modelos de segurança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Dataset NSL-KDD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Explicações locais + globais (SHAP)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Killourhy &amp; Maxion — Keystroke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5D5F0"/>
                </a:solidFill>
                <a:latin typeface="Segoe UI"/>
              </a:defRPr>
            </a:pPr>
            <a:r>
              <a:t>Literatura Acadêmica · IEEE/IFIP DSN 2009 · Benchmark CMU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51B4"/>
                </a:solidFill>
                <a:latin typeface="Segoe UI"/>
              </a:defRPr>
            </a:pPr>
            <a:r>
              <a:t>Resumo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Estabelece um benchmark público para comparar, de forma justa, algoritmos de detecção de anomalia aplicados à dinâmica de digitação. Objetivo: avaliar, sob o mesmo dataset e métrica (EER), qual detector melhor distingue o usuário legítimo. Experimento: 51 sujeitos digitaram a senha ".tie5Roanl" 400 vezes, em 8 sessões, medindo tempos de hold e latências entre teclas. Resultado: 14 detectores comparados; o melhor (Manhattan escalonado) atingiu EER ≈ 9,6%.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51B4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proposta adota a mesma biometria comportamental (dinâmica de digitação) deste benchmark seminal, mas avança em três frentes: (i) integra a digitação a um ENSEMBLE de 3 modelos (IF+RF+DL) e 14 features contextuais, em vez de um único detector de distância; (ii) opera em AUTENTICAÇÃO CONTÍNUA e adaptativa na web, não em um teste offline de senha fixa; (iii) registra cada decisão em BLOCKCHAIN com EXPLICABILIDADE (SHAP) — ausentes no estudo, que é puramente comparativo de algoritmos.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Frank et al. — Touchalytics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5D5F0"/>
                </a:solidFill>
                <a:latin typeface="Segoe UI"/>
              </a:defRPr>
            </a:pPr>
            <a:r>
              <a:t>Literatura Acadêmica · IEEE TIFS 2013 · Autenticação Contínua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51B4"/>
                </a:solidFill>
                <a:latin typeface="Segoe UI"/>
              </a:defRPr>
            </a:pPr>
            <a:r>
              <a:t>Resumo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Propõe usar o padrão de interação com a touchscreen (gestos de scroll e swipe) como biometria comportamental para autenticação CONTÍNUA em smartphones. Objetivo: verificar se gestos de navegação identificam o usuário durante o uso normal do aparelho. Experimento: 41 usuários Android, 30 features extraídas por gesto, classificadores kNN e SVM (kernel RBF). Resultado: EER mediano de 0% intra-sessão, 2-3% entre sessões e abaixo de 4% uma semana após o cadastro.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51B4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Touchalytics valida o conceito central da proposta — autenticação CONTÍNUA por comportamento — porém no domínio touch/mobile. A proposta transpõe a ideia para aplicações WEB, combinando dinâmica de digitação, geolocalização e contexto de sessão. Diferenciais: (i) decisão em 4 NÍVEIS (permitir/MFA/MFA+alerta/bloquear), não binária; (ii) ENSEMBLE de 3 paradigmas de ML com pesos; (iii) DETECÇÃO DE DERIVA comportamental ao longo do tempo; (iv) trilha auditável em BLOCKCHAIN com explicabilidade SHAP.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Wiefling et al. — Risk-Based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5D5F0"/>
                </a:solidFill>
                <a:latin typeface="Segoe UI"/>
              </a:defRPr>
            </a:pPr>
            <a:r>
              <a:t>Literatura Acadêmica · IFIP SEC 2019 · Autenticação Adaptativa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51B4"/>
                </a:solidFill>
                <a:latin typeface="Segoe UI"/>
              </a:defRPr>
            </a:pPr>
            <a:r>
              <a:t>Resumo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Primeiro estudo empírico que investiga, de forma caixa-preta, como serviços reais implementam Risk-Based Authentication (RBA) — recurso recomendado pelas diretrizes do NIST que monitora features implícitas no login e exige fator adicional sob risco elevado. Experimento: análise de 8 serviços online populares (entre eles Google e GOG.com). Achados: todos usam o endereço IP como feature de maior peso; as implementações são pouco transparentes e muito inconsistentes entre 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51B4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A proposta materializa a filosofia de RBA estudada, porém de forma ABERTA e mais rica. Enquanto os serviços analisados dependem fortemente do IP e mantêm a lógica oculta, a proposta: (i) combina 14 features (digitação, geolocalização, dispositivo, horário) em um SCORE CONTÍNUO de 0,0 a 1,0; (ii) é transparente e reprodutível, com EXPLICABILIDADE por decisão (SHAP); (iii) escalona a resposta em 4 NÍVEIS; (iv) registra o histórico de risco em BLOCKCHAIN imutável — endereçando a falta de transparência apontada pelo estudo.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Liu, Ting &amp; Zhou — Isolation Forest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5D5F0"/>
                </a:solidFill>
                <a:latin typeface="Segoe UI"/>
              </a:defRPr>
            </a:pPr>
            <a:r>
              <a:t>Literatura Acadêmica · IEEE ICDM 2008 · Detecção de Anomalias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51B4"/>
                </a:solidFill>
                <a:latin typeface="Segoe UI"/>
              </a:defRPr>
            </a:pPr>
            <a:r>
              <a:t>Resumo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Introduz o Isolation Forest (iForest), método de detecção de anomalias que ISOLA explicitamente os pontos atípicos em vez de modelar o comportamento normal. Constrói árvores de partição aleatória nas quais anomalias, por serem raras e diferentes, são isoladas com caminhos mais curtos. Vantagens: complexidade de tempo LINEAR, baixo uso de memória e bom aproveitamento de sub-amostragem, escalando para grandes volumes de dados e alta dimensionalidade.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51B4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O Isolation Forest é exatamente o algoritmo que a proposta adota como componente de MAIOR peso (40%) em seu ensemble. A contribuição da proposta não é o algoritmo em si, mas sua ORQUESTRAÇÃO aplicada: (i) combina o iForest (não supervisionado) com Random Forest (30%) e Deep Learning (30%) num score unificado; (ii) aplica-o a 14 features específicas de autenticação; (iii) torna sua saída AUDITÁVEL via blockchain e EXPLICÁVEL via SHAP — levando um detector clássico de anomalias para um sistema de autenticação adaptativa em produção.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Wang et al. — XAI para Detecção de Intrusão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5D5F0"/>
                </a:solidFill>
                <a:latin typeface="Segoe UI"/>
              </a:defRPr>
            </a:pPr>
            <a:r>
              <a:t>Literatura Acadêmica · IEEE Access 2020 · Explicabilidade (SHAP)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37744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51B4"/>
                </a:solidFill>
                <a:latin typeface="Segoe UI"/>
              </a:defRPr>
            </a:pPr>
            <a:r>
              <a:t>Resumo do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Propõe um framework de explicabilidade para sistemas de detecção de intrusão baseado em SHAP (Lundberg &amp; Lee, NeurIPS 2017), combinando explicações LOCAIS (por que uma entrada foi classificada como ataque) e GLOBAIS (features mais relevantes e sua relação com os tipos de ataque). Objetivo: tornar transparentes modelos de segurança que costumam operar como caixa-preta. Experimento: avaliação sobre o dataset NSL-KDD, comparando classificadores one-vs-all e multiclasse.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1064240" cy="2468880"/>
          </a:xfrm>
          <a:prstGeom prst="roundRect">
            <a:avLst>
              <a:gd name="adj" fmla="val 5000"/>
            </a:avLst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351B4"/>
                </a:solidFill>
                <a:latin typeface="Segoe UI"/>
              </a:defRPr>
            </a:pPr>
            <a:r>
              <a:t>Comparação com a Proposta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4A4A"/>
                </a:solidFill>
                <a:latin typeface="Segoe UI"/>
              </a:defRPr>
            </a:pPr>
            <a:r>
              <a:t>Este trabalho fundamenta a camada de EXPLICABILIDADE da proposta: o mesmo SHAP é aplicado, porém ao domínio de AUTENTICAÇÃO (não a intrusão de rede) e em tempo real. Diferenciais: (i) explica a decisão de cada LOGIN, mostrando a contribuição das 14 features ao score; (ii) integra a explicação ao ENSEMBLE de 3 modelos e à biometria de digitação; (iii) PERSISTE a explicação em BLOCKCHAIN, criando trilha de auditoria imutável das decisões de IA — indo além da análise offline sobre dataset estático.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Referências — Literatura Acadêmica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KILLOURHY, K. S.; MAXION, R. A. Comparing Anomaly-Detection Algorithms for Keystroke Dynamics. In: IEEE/IFIP Int. Conf. on Dependable Systems &amp; Networks (DSN), 2009, p. 125-134.</a:t>
            </a:r>
          </a:p>
          <a:p>
            <a:pPr>
              <a:spcAft>
                <a:spcPts val="8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FRANK, M.; BIEDERT, R.; MA, E.; MARTINOVIC, I.; SONG, D. Touchalytics: On the Applicability of Touchscreen Input as a Behavioral Biometric for Continuous Authentication. IEEE TIFS, v. 8, n. 1, p. 136-148, 2013.</a:t>
            </a:r>
          </a:p>
          <a:p>
            <a:pPr>
              <a:spcAft>
                <a:spcPts val="8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WIEFLING, S.; LO IACONO, L.; DÜRMUTH, M. Is This Really You? An Empirical Study on Risk-Based Authentication Applied in the Wild. In: IFIP SEC, 2019, p. 134-148.</a:t>
            </a:r>
          </a:p>
          <a:p>
            <a:pPr>
              <a:spcAft>
                <a:spcPts val="8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LIU, F. T.; TING, K. M.; ZHOU, Z.-H. Isolation Forest. In: IEEE Int. Conf. on Data Mining (ICDM), 2008, p. 413-422.</a:t>
            </a:r>
          </a:p>
          <a:p>
            <a:pPr>
              <a:spcAft>
                <a:spcPts val="8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WANG, M.; ZHENG, K.; YANG, Y.; WANG, X. An Explainable Machine Learning Framework for Intrusion Detection Systems. IEEE Access, v. 8, p. 73127-73141, 2020.</a:t>
            </a:r>
          </a:p>
          <a:p>
            <a:pPr>
              <a:spcAft>
                <a:spcPts val="800"/>
              </a:spcAft>
              <a:defRPr sz="1300">
                <a:solidFill>
                  <a:srgbClr val="4A4A4A"/>
                </a:solidFill>
                <a:latin typeface="Segoe UI"/>
              </a:defRPr>
            </a:pPr>
            <a:r>
              <a:t>LUNDBERG, S. M.; LEE, S.-I. A Unified Approach to Interpreting Model Predictions (SHAP). In: NeurIPS, 2017.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Biometria Comportamental e Autenticação Contínua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Killourhy &amp; Maxion (2009) · Touchalytics (2013) · unico (2007/2020)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92608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lang="pt-BR" sz="1200" b="1">
                <a:solidFill>
                  <a:srgbClr val="1A6B2A"/>
                </a:solidFill>
                <a:latin typeface="Segoe UI"/>
              </a:rPr>
              <a:t>Killourhy &amp; Maxion (acadêmico, DSN 2009): </a:t>
            </a:r>
            <a:r>
              <a:rPr lang="pt-BR" sz="1200" b="0">
                <a:solidFill>
                  <a:srgbClr val="4A4A4A"/>
                </a:solidFill>
                <a:latin typeface="Segoe UI"/>
              </a:rPr>
              <a:t>criaram o benchmark de referência em dinâmica de digitação — 51 voluntários digitaram a senha ".tie5Roanl" 400 vezes e 14 algoritmos foram comparados, com o melhor atingindo EER de ~9,6%. Provaram que a forma de digitar identifica a pessoa, mas em teste offline de senha fixa.</a:t>
            </a:r>
          </a:p>
          <a:p>
            <a:pPr algn="l">
              <a:spcAft>
                <a:spcPts val="600"/>
              </a:spcAft>
            </a:pPr>
            <a:r>
              <a:rPr lang="pt-BR" sz="1200" b="1">
                <a:solidFill>
                  <a:srgbClr val="1A6B2A"/>
                </a:solidFill>
                <a:latin typeface="Segoe UI"/>
              </a:rPr>
              <a:t>Frank et al. (Touchalytics, IEEE TIFS 2013): </a:t>
            </a:r>
            <a:r>
              <a:rPr lang="pt-BR" sz="1200" b="0">
                <a:solidFill>
                  <a:srgbClr val="4A4A4A"/>
                </a:solidFill>
                <a:latin typeface="Segoe UI"/>
              </a:rPr>
              <a:t>levaram a ideia para a autenticação CONTÍNUA — 41 usuários e 30 características de gestos em smartphone, com EER de 0% a 3%. Confirmaram que é possível autenticar o usuário durante o uso, sem pedir senha.</a:t>
            </a:r>
          </a:p>
          <a:p>
            <a:pPr algn="l">
              <a:spcAft>
                <a:spcPts val="600"/>
              </a:spcAft>
            </a:pPr>
            <a:r>
              <a:rPr lang="pt-BR" sz="1200" b="1">
                <a:solidFill>
                  <a:srgbClr val="1A6B2A"/>
                </a:solidFill>
                <a:latin typeface="Segoe UI"/>
              </a:rPr>
              <a:t>unico|check e unico|people (indústria): </a:t>
            </a:r>
            <a:r>
              <a:rPr lang="pt-BR" sz="1200" b="0">
                <a:solidFill>
                  <a:srgbClr val="4A4A4A"/>
                </a:solidFill>
                <a:latin typeface="Segoe UI"/>
              </a:rPr>
              <a:t>aplicam biometria FACIAL para validar identidade em bancos e no RH, com resposta em menos de 3 segundos — porém é uma verificação única (one-shot), feita só na entrada.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26280"/>
            <a:ext cx="11064240" cy="20116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6B2A"/>
                </a:solidFill>
                <a:latin typeface="Segoe UI"/>
              </a:defRPr>
            </a:pPr>
            <a:r>
              <a:t>Relação com a sua proposta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069848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 proposta une as duas vertentes: usa biometria COMPORTAMENTAL de digitação (como Killourhy &amp; Maxion) de forma CONTÍNUA (como Touchalytics), mas em aplicações web, integrada a 14 sinais de contexto e a um ensemble de 3 modelos — algo que a biometria facial one-shot da indústria não oferece.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Autenticação Adaptativa e Identidade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Wiefling et al. — Risk-Based Authentication (2019) · gov.br / Serpro (2019/2021)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92608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lang="pt-BR" sz="1200" b="1">
                <a:solidFill>
                  <a:srgbClr val="1A6B2A"/>
                </a:solidFill>
                <a:latin typeface="Segoe UI"/>
              </a:rPr>
              <a:t>Wiefling, Lo Iacono &amp; Dürmuth (acadêmico, IFIP SEC 2019): </a:t>
            </a:r>
            <a:r>
              <a:rPr lang="pt-BR" sz="1200" b="0">
                <a:solidFill>
                  <a:srgbClr val="4A4A4A"/>
                </a:solidFill>
                <a:latin typeface="Segoe UI"/>
              </a:rPr>
              <a:t>fizeram o primeiro estudo empírico de Risk-Based Authentication (RBA), recomendada pelo NIST, analisando 8 serviços reais (Google, GOG.com). Descobriram que todos se apoiam fortemente no endereço IP e mantêm a lógica oculta e inconsistente entre si.</a:t>
            </a:r>
          </a:p>
          <a:p>
            <a:pPr algn="l">
              <a:spcAft>
                <a:spcPts val="600"/>
              </a:spcAft>
            </a:pPr>
            <a:r>
              <a:rPr lang="pt-BR" sz="1200" b="1">
                <a:solidFill>
                  <a:srgbClr val="1A6B2A"/>
                </a:solidFill>
                <a:latin typeface="Segoe UI"/>
              </a:rPr>
              <a:t>gov.br / Serpro (indústria/governo): </a:t>
            </a:r>
            <a:r>
              <a:rPr lang="pt-BR" sz="1200" b="0">
                <a:solidFill>
                  <a:srgbClr val="4A4A4A"/>
                </a:solidFill>
                <a:latin typeface="Segoe UI"/>
              </a:rPr>
              <a:t>é a maior identidade digital pública do país (115M+ usuários), com login único, 2FA e 3 níveis FIXOS de confiabilidade (bronze, prata, ouro). Os níveis, porém, são definidos pelo serviço-alvo — não pelo comportamento do usuário.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26280"/>
            <a:ext cx="11064240" cy="20116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6B2A"/>
                </a:solidFill>
                <a:latin typeface="Segoe UI"/>
              </a:defRPr>
            </a:pPr>
            <a:r>
              <a:t>Relação com a sua proposta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069848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 proposta materializa o RBA de forma ABERTA e explicável: em vez de depender só do IP ou de níveis fixos, recalcula um SCORE CONTÍNUO (0,0 a 1,0) a cada acesso, combinando 14 sinais, e escalona a resposta em 4 níveis (permitir / MFA / MFA+alerta / bloquear), com cada decisão auditável em blockchain.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KYC, Antifraude e Orquestração de Identidade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idwall (2016) · CAF — Combate à Fraude (2019)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92608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lang="pt-BR" sz="1200" b="1">
                <a:solidFill>
                  <a:srgbClr val="1A6B2A"/>
                </a:solidFill>
                <a:latin typeface="Segoe UI"/>
              </a:rPr>
              <a:t>idwall (indústria): </a:t>
            </a:r>
            <a:r>
              <a:rPr lang="pt-BR" sz="1200" b="0">
                <a:solidFill>
                  <a:srgbClr val="4A4A4A"/>
                </a:solidFill>
                <a:latin typeface="Segoe UI"/>
              </a:rPr>
              <a:t>oferece uma plataforma all-in-one de identidade com forte uso de ML — automatiza o KYC com OCR, validação documental e biométrica, e mantém um laboratório de antifraude. Atua principalmente na ENTRADA (onboarding) do usuário.</a:t>
            </a:r>
          </a:p>
          <a:p>
            <a:pPr algn="l">
              <a:spcAft>
                <a:spcPts val="600"/>
              </a:spcAft>
            </a:pPr>
            <a:r>
              <a:rPr lang="pt-BR" sz="1200" b="1">
                <a:solidFill>
                  <a:srgbClr val="1A6B2A"/>
                </a:solidFill>
                <a:latin typeface="Segoe UI"/>
              </a:rPr>
              <a:t>CAF — Combate à Fraude (indústria): </a:t>
            </a:r>
            <a:r>
              <a:rPr lang="pt-BR" sz="1200" b="0">
                <a:solidFill>
                  <a:srgbClr val="4A4A4A"/>
                </a:solidFill>
                <a:latin typeface="Segoe UI"/>
              </a:rPr>
              <a:t>é especialista em ORQUESTRAÇÃO de identidade: combina documentoscopia, biometria facial e IA, com atuação no Brasil e no exterior. Foca em fraude transacional e validação documental.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26280"/>
            <a:ext cx="11064240" cy="20116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6B2A"/>
                </a:solidFill>
                <a:latin typeface="Segoe UI"/>
              </a:defRPr>
            </a:pPr>
            <a:r>
              <a:t>Relação com a sua proposta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069848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Ambas são fortes na verificação de entrada, mas tratam o usuário como caixa-preta e param após o onboarding. A proposta atua DURANTE o uso (autenticação contínua), com ensemble EXPLICÁVEL via SHAP, detecção de DERIVA comportamental e trilha imutável em blockchain — além de ser aberta e reprodutível.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Núcleo de IA: Ensemble e Explicabilidade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Isolation Forest (2008) · XAI com SHAP (2017 / 2020)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292608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lang="pt-BR" sz="1200" b="1">
                <a:solidFill>
                  <a:srgbClr val="1A6B2A"/>
                </a:solidFill>
                <a:latin typeface="Segoe UI"/>
              </a:rPr>
              <a:t>Liu, Ting &amp; Zhou (acadêmico, ICDM 2008): </a:t>
            </a:r>
            <a:r>
              <a:rPr lang="pt-BR" sz="1200" b="0">
                <a:solidFill>
                  <a:srgbClr val="4A4A4A"/>
                </a:solidFill>
                <a:latin typeface="Segoe UI"/>
              </a:rPr>
              <a:t>propuseram o Isolation Forest, que detecta anomalias ISOLANDO os pontos atípicos (caminhos curtos em árvores aleatórias), com custo linear e baixo uso de memória. É justamente o algoritmo de MAIOR peso (40%) no ensemble da proposta.</a:t>
            </a:r>
          </a:p>
          <a:p>
            <a:pPr algn="l">
              <a:spcAft>
                <a:spcPts val="600"/>
              </a:spcAft>
            </a:pPr>
            <a:r>
              <a:rPr lang="pt-BR" sz="1200" b="1">
                <a:solidFill>
                  <a:srgbClr val="1A6B2A"/>
                </a:solidFill>
                <a:latin typeface="Segoe UI"/>
              </a:rPr>
              <a:t>Wang et al. (IEEE Access 2020) / SHAP (Lundberg &amp; Lee, 2017): </a:t>
            </a:r>
            <a:r>
              <a:rPr lang="pt-BR" sz="1200" b="0">
                <a:solidFill>
                  <a:srgbClr val="4A4A4A"/>
                </a:solidFill>
                <a:latin typeface="Segoe UI"/>
              </a:rPr>
              <a:t>aplicaram o SHAP para EXPLICAR um detector de intrusão sobre o dataset NSL-KDD, gerando explicações locais e globais de modelos que antes eram caixa-preta.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26280"/>
            <a:ext cx="11064240" cy="201168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6B2A"/>
                </a:solidFill>
                <a:latin typeface="Segoe UI"/>
              </a:defRPr>
            </a:pPr>
            <a:r>
              <a:t>Relação com a sua proposta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069848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4A4A4A"/>
                </a:solidFill>
                <a:latin typeface="Segoe UI"/>
              </a:defRPr>
            </a:pPr>
            <a:r>
              <a:t>A proposta orquestra o Isolation Forest com Random Forest e Deep Learning num score único e aplica o SHAP à AUTENTICAÇÃO (não a intrusão de rede): explica cada login e PERSISTE a explicação em blockchain — transformando técnicas acadêmicas isoladas em um sistema integrado e auditável.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Quadro Comparativo — Academia e Indústria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10 trabalhos · proposta, ano, experimento e métricas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0520"/>
          <a:ext cx="11612880" cy="512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80160"/>
                <a:gridCol w="731520"/>
                <a:gridCol w="2560320"/>
                <a:gridCol w="2377440"/>
                <a:gridCol w="2651760"/>
              </a:tblGrid>
              <a:tr h="396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Trabalho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Proposta / Foco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Experimento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Métrica / Resultado</a:t>
                      </a:r>
                    </a:p>
                  </a:txBody>
                  <a:tcPr>
                    <a:solidFill>
                      <a:srgbClr val="1A6B2A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Killourhy &amp; Maxion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Acadêmico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Benchmark de keystroke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51 usuários, senha fixa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EER ~9,6%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Frank (Touchalytics)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Acadêmico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Auth. contínua (toque)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41 usuários, 30 features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EER 0–3%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Wiefling (RBA)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Acadêmico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Risk-based authentication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8 serviços reais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IP domina; pouca transparência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Liu (Isolation Forest)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Acadêmico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2008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Detecção de anomalias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Benchmarks (ICDM)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Custo linear, escalável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Wang (XAI / SHAP)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Acadêmico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Explicabilidade (IDS)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Dataset NSL-KDD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Explicação local + global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unico|check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Indústria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2007/20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Biometria facial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800+ empresas, 4/5 bancos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&lt;3s, 23+ países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unico|people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Indústria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2007/20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Admissão digital (RH)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400+ empresas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~20 min/admissão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idwall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Indústria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KYC com ML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Fintechs e bancos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OCR via ML, lab antifraude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CAF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Indústria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Orquestração de identidade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SP, RJ e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Doc. + biometria +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gov.br / Serpro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Indústria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2019/21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Identidade federal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115M+ usuários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4A4A4A"/>
                          </a:solidFill>
                          <a:latin typeface="Segoe UI"/>
                        </a:defRPr>
                      </a:pPr>
                      <a:r>
                        <a:t>3 níveis fixos, 2FA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6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Referências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E0B0"/>
                </a:solidFill>
                <a:latin typeface="Segoe UI"/>
              </a:defRPr>
            </a:pPr>
            <a:r>
              <a:t>Bibliografia consolidada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CD1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960" cy="5029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pt-BR" sz="1400" b="1">
                <a:solidFill>
                  <a:srgbClr val="1A6B2A"/>
                </a:solidFill>
                <a:latin typeface="Segoe UI"/>
              </a:rPr>
              <a:t>Literatura Acadêmica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KILLOURHY, K. S.; MAXION, R. A. Comparing Anomaly-Detection Algorithms for Keystroke Dynamics. IEEE/IFIP DSN, 2009.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FRANK, M. et al. Touchalytics: Touchscreen Input as a Behavioral Biometric for Continuous Authentication. IEEE TIFS, v. 8, n. 1, 2013.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WIEFLING, S.; LO IACONO, L.; DÜRMUTH, M. Is This Really You? An Empirical Study on Risk-Based Authentication Applied in the Wild. IFIP SEC, 2019.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LIU, F. T.; TING, K. M.; ZHOU, Z.-H. Isolation Forest. IEEE ICDM, 2008.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WANG, M. et al. An Explainable Machine Learning Framework for Intrusion Detection Systems. IEEE Access, v. 8, 2020.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LUNDBERG, S. M.; LEE, S.-I. A Unified Approach to Interpreting Model Predictions (SHAP). NeurIPS, 2017.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lang="pt-BR" sz="1400" b="1">
                <a:solidFill>
                  <a:srgbClr val="1A6B2A"/>
                </a:solidFill>
                <a:latin typeface="Segoe UI"/>
              </a:rPr>
              <a:t>Indústria e Órgãos Públicos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unico IDTech — unico|check e unico|people (unico.io); CryptoID, "Acesso Digital agora é unico" (2020).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idwall — idwall.co (plataforma all-in-one) e blog.idwall.co.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CAF — Combate à Fraude — caf.io/pt e Finsiders Brasil.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Serpro / gov.br — serpro.gov.br (Datavalid, verificação em duas etapas, 2025).</a:t>
            </a:r>
          </a:p>
          <a:p>
            <a:pPr>
              <a:spcAft>
                <a:spcPts val="300"/>
              </a:spcAft>
            </a:pPr>
            <a:r>
              <a:rPr lang="pt-BR" sz="1150" b="0">
                <a:solidFill>
                  <a:srgbClr val="4A4A4A"/>
                </a:solidFill>
                <a:latin typeface="Segoe UI"/>
              </a:rPr>
              <a:t>INPI — Consulta Pública sobre Diretrizes de IA (2025).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