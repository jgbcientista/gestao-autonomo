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INSTITUTO FEDERAL DE EDUCAÇÃO, CIÊNCIA E TECNOLOGIA DA BAHIA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IFBA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6B2A"/>
                </a:solidFill>
                <a:latin typeface="Segoe UI"/>
              </a:defRPr>
            </a:pPr>
            <a:r>
              <a:t>TRABALHOS RELACIONADOS E ESTADO DA 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Autenticação Adaptativa com Inteligência Artificial,</a:t>
            </a:r>
            <a:br/>
            <a:r>
              <a:t>Biometria Comportamental e Blockchain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566160"/>
            <a:ext cx="3017520" cy="36576"/>
          </a:xfrm>
          <a:prstGeom prst="rect">
            <a:avLst/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6B2A"/>
                </a:solidFill>
                <a:latin typeface="Segoe UI"/>
              </a:defRPr>
            </a:pPr>
            <a:r>
              <a:t>Sistema Autônomo de Autenticação Inteligente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Discente: João Guedes de Brito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Orientador: Prof. Cleber Jorge Lira de Santana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Salvador - BA |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691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91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Contexto e Objetivo da Revisão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Quadro Comparativo Geral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Pesquisa no INPI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566159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6118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118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Trabalhos Acadêmicos (12 estudos)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20624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251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Soluções da Indústria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84632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Síntese Comparativa e Diferenciais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486399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5321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3211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Segoe UI"/>
              </a:defRPr>
            </a:pPr>
            <a:r>
              <a:t>Lacunas Identificadas na Literatura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Contexto e Objetivo da Revisão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Segoe UI"/>
              </a:defRPr>
            </a:pPr>
            <a:r>
              <a:t>O sistema proposto integra múltiplas tecnologias em uma plataforma única de autenticação inteligente. Esta revisão identifica e compara trabalhos da literatura acadêmica e da indústria que abordam, de forma isolada ou parcial, os mesmos eixos temáticos.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Isolation Forest (40%)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Random Forest (30%)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Deep Learning (30%)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Score unificado 0.0-1.0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Biometria e 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Dinâmica de digitação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Geolocalização por IP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Análise de sessão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Deriva comportamental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Segoe UI"/>
              </a:defRPr>
            </a:pPr>
            <a:r>
              <a:t>Blockchain e XAI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Hyperledger Fabric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Ethereum (Web3j)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Auditoria imutável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• Explicabilidade via SHAP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Quadro Comparativo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Trabalhos Acadêmicos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743200"/>
                <a:gridCol w="2560320"/>
                <a:gridCol w="2286000"/>
              </a:tblGrid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Trabalho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Ano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Métricas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Adaptive Biometric Auth. Systems (ScienceDirect)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Mapear estado da arte em autenticação biométrica adaptativa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Revisão de 80+ trabalhos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FAR, FRR, 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AI-Driven Adaptive Auth. (ESRG)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Reduzir FAR/FRR com ML multimodal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Testes com biometria multimodal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FAR -27%, FRR -35%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Continuous Smartphone Auth. (MDPI)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Autenticação contínua em dispositivos móveis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Pipeline CNN+LSTM+GRU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Acurácia, EER,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Keystroke Dynamics (Springer)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Autenticação por padrões de digitação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KNN, RF, LGBM em texto fixo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EER 2.67%-6.61%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Blockchain Audit Trail (MDPI)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Auditoria imutável com blockchain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Smart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Throughput, latência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Harpocrates (Virginia Tech)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Logs imutáveis com privacidade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Hyperledger Fabric em EC2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Latência, overhead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IAM + Hyperledger + OAuth (ScienceDirect)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IAM com blockchain para saúde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Protótipo Hyperledger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Escalabilidade, segurança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Quadro Comparativo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Trabalhos Acadêmicos (2/2) + Indústria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2743200"/>
                <a:gridCol w="2560320"/>
                <a:gridCol w="2286000"/>
              </a:tblGrid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Trabalho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Ano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Métricas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Risk-Based Auth. com ML (IEEE)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Classificar logins por nível de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Modelos ML para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Acurácia, precisão,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Trust Engine Behavioral (IJETCSIT)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Score de confiança dinâmico passwordless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Avaliação em móveis/wearables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TAR&gt;90%, FAR&lt;5%, EER~6.5%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AI Continuous Auth. Zero Trust (ResearchGate)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Decisões adaptativas com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Framework com Reinforcement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Redução falsos positivos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XAI para IDS (Frontiers in AI)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Explicabilidade em sistemas de segurança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Análise SHAP/LIME em IDS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Interpretabilidade, fidelidade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Adaptive Security + Drift (Al-Qadisiyah)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Detecção de deriva comportamental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LSTM+Autoencoder+KL-divergence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Acurácia de detecção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IBM Trusteer (Indústria)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2016+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Prevenção de fraude com biometria IA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Produção em inst. financeiras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Proprietário (não publicado)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BioCatch (Indústria)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2011+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Biometria comportamental cognitiva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Produção em bancos/fintechs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Proprietário (não publicado)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Pesquisa no INPI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Instituto Nacional da Propriedade Industrial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9E41"/>
                </a:solidFill>
                <a:latin typeface="Segoe UI"/>
              </a:defRPr>
            </a:pPr>
            <a:r>
              <a:t>Resultados da Busca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Segoe UI"/>
              </a:defRPr>
            </a:pPr>
            <a:r>
              <a:t>• 47 pedidos de patentes relacionados a blockchain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Segoe UI"/>
              </a:defRPr>
            </a:pPr>
            <a:r>
              <a:t>• Nenhum combinando todos os elementos da proposta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Segoe UI"/>
              </a:defRPr>
            </a:pPr>
            <a:r>
              <a:t>• Sem registros de biometria comportamental + ML + blockchain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Segoe UI"/>
              </a:defRPr>
            </a:pPr>
            <a:r>
              <a:t>• Termos: autenticação adaptativa, login inteligente, biometria comportamental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9E41"/>
                </a:solidFill>
                <a:latin typeface="Segoe UI"/>
              </a:defRPr>
            </a:pPr>
            <a:r>
              <a:t>Diretrizes de IA no INPI (Ago/2025)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Segoe UI"/>
              </a:defRPr>
            </a:pPr>
            <a:r>
              <a:t>• Consulta pública sobre patentes de IA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Segoe UI"/>
              </a:defRPr>
            </a:pPr>
            <a:r>
              <a:t>• Categorias: modelos de IA, invenções baseadas em IA, invenções assistidas por IA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  <a:latin typeface="Segoe UI"/>
              </a:defRPr>
            </a:pPr>
            <a:r>
              <a:t>• Amadurecimento regulatório para proteção futura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515600" cy="219456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9E41"/>
                </a:solidFill>
                <a:latin typeface="Segoe UI"/>
              </a:defRPr>
            </a:pPr>
            <a:r>
              <a:t>Relação com a Proposta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A ausência de patentes no INPI que integrem autenticação adaptativa com ML, biometria comportamental, blockchain e explicabilidade de IA evidencia o caráter inovador da proposta. O sistema se posiciona em uma lacuna de propriedade intelectual no cenário brasileiro, combinando elementos que, individualmente, já possuem registro, mas que em conjunto representam uma contribuição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Adaptive Biometric Authentication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ScienceDirect, 2023 - Revisão Sistemática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Descrição do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Revisão sistemática que analisa mais de 80 trabalhos sobre sistemas de autenticação biométrica adaptativos. Mapeia como esses sistemas ajustam dinamicamente seus processos de amostragem e reconhecimento em resposta a mudanças no ambiente operacional. Identifica desafios críticos como ameaças à privacidade, spoofing e acessibilidade.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Comparação com 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sistema proposto implementa concretamente uma solução adaptativa com ensemble de ML (Isolation Forest + Random Forest + Deep Learning), MFA condicional baseado em risco, e detecção de deriva comportamental. Adiciona blockchain e explicabilidade de IA — elementos não cobertos na revisão.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AI-Driven Adaptive Authentication for Multi-Modal Biometrics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ESRG Journal,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Descrição do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Framework com ML para ajuste dinâmico de parâmetros de autenticação baseado em dados contextuais e comportamentais. Resultados: redução de 27% na FAR e 35% na FRR comparado a métodos estáticos tradicionais. Utiliza biometria multimodal para perfis adaptativos.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Comparação com 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A proposta compartilha o princípio de ajuste dinâmico, mas implementa ensemble de 3 algoritmos com pesos configuráveis (IF 40%, RF 30%, DL 30%) e regras de decisão escalonadas em 4 níveis (permitir, MFA, MFA+alerta, bloquear). Integra blockchain para registro imutável de cada decisão.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Continuous Smartphone Auth. + Keystroke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MDPI 2026 / Springer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Descrição do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trabalho da MDPI utiliza pipeline de CNN+LSTM+GRU para autenticação contínua em móveis. O da Springer aplica KNN, RF e LGBM para keystroke dynamics, alcançando EER de 2.67% a 6.61%. Ambos demonstram a eficácia de ensembles e biometria comportamental.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Comparação com 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sistema proposto integra dinâmica de digitação como uma das 14 features do ensemble (não isoladamente), combinando com geolocalização, padrão de sessão e contexto. Adiciona explicabilidade SHAP e score persistente em blockchain — aspectos não abordados nos trabalhos comparados.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Blockchain Audit Trail + Harpocrates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MDPI 2021 / Virginia Tech 2022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Descrição do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MDPI propõe mecanismo genérico de audit trail com smart contracts. Harpocrates implementa logs imutáveis com preservação de privacidade sobre Hyperledger Fabric em Amazon EC2, combinando técnicas criptográficas com imutabilidade blockchain.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Comparação com 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sistema proposto registra especificamente eventos de autenticação (hash, tipo de evento, ID hasheado SHA-3, IP, score, decisão, timestamp) em blockchain dual (Hyperledger Fabric + Ethereum). Opera em modo simulação para dev e redes reais em produção — flexibilidade não presente nos comparados.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IAM Hyperledger + OAuth 2.0 / Risk-Based Auth. IEEE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ScienceDirect 2023 / IEEE 2018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Descrição do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trabalho ScienceDirect combina Hyperledger Fabric com OAuth 2.0 para IAM no setor de saúde. O IEEE (2018) é um trabalho pioneiro de autenticação baseada em risco com ML, classificando logins por nível de risco com features contextuais básicas.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Comparação com 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sistema proposto substitui autenticação estática (OAuth) por score dinâmico de IA, com 4 níveis de resposta em vez de decisão binária. Expande o trabalho de 2018 com ensemble de 3 algoritmos, 14 features, biometria comportamental, blockchain e explicabilidade.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Trust Engine + Zero Trust + XAI + Drift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IJETCSIT 2024 / ResearchGate 2025 / Frontiers 2025 / Al-Qadisiyah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Descrição do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Trust Engine: score dinâmico passwordless com TAR&gt;90% e FAR&lt;5%. Zero Trust: RL para enforcement adaptativo. XAI: revisão de SHAP/LIME para IDS. Drift Detection: LSTM+Autoencoder com KL-divergence para detectar mudanças de comportamento.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9E41"/>
                </a:solidFill>
                <a:latin typeface="Segoe UI"/>
              </a:defRPr>
            </a:pPr>
            <a:r>
              <a:t>Comparação com 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O sistema proposto integra TODOS esses elementos em uma única plataforma: score de confiança (como Trust Engine), decisões adaptativas (como Zero Trust), explicabilidade SHAP (como XAI), e detecção de deriva (como Drift Detection) — com o diferencial de registro imutável em blockchain de cada decisão e explicação.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Soluções da Indústria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IBM Trusteer e BioCatch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9E41"/>
                </a:solidFill>
                <a:latin typeface="Segoe UI"/>
              </a:defRPr>
            </a:pPr>
            <a:r>
              <a:t>IBM Security Trusteer (2016+)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Suíte de prevenção de fraude com IA, biometria comportamental e inteligência global. Analisa sinais de identidade digital e informações de dispositivo. Utilizado por centenas de instituições financeiras.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9E41"/>
                </a:solidFill>
                <a:latin typeface="Segoe UI"/>
              </a:defRPr>
            </a:pPr>
            <a:r>
              <a:t>vs. Proposta: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Trusteer é proprietário/black-box. A proposta oferece: explicabilidade SHAP, blockchain para auditoria, arquitetura aberta e reprodutível, métricas e decisões transparentes.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9E41"/>
                </a:solidFill>
                <a:latin typeface="Segoe UI"/>
              </a:defRPr>
            </a:pPr>
            <a:r>
              <a:t>BioCatch (2011+)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Biometria comportamental cognitiva e física para prevenção de fraude. Analisa interações humano-dispositivo com IA. Diferencia usuários legítimos de fraudadores. Adotado por bancos globais.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9E41"/>
                </a:solidFill>
                <a:latin typeface="Segoe UI"/>
              </a:defRPr>
            </a:pPr>
            <a:r>
              <a:t>vs. Proposta: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BioCatch é SaaS proprietário para fraude financeira. A proposta é voltada para autenticação web geral, com ensemble explícito de 3 algoritmos, blockchain dual, explicabilidade SHAP e detecção de deriva.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Síntese Comparativa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Diferenciais exclusivos da proposta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194560"/>
                <a:gridCol w="2194560"/>
                <a:gridCol w="2103120"/>
              </a:tblGrid>
              <a:tr h="4937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Proposta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Literatura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Indústria</a:t>
                      </a:r>
                    </a:p>
                  </a:txBody>
                  <a:tcPr>
                    <a:solidFill>
                      <a:srgbClr val="1A6B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Ensemble de 3 algoritmos (IF+RF+DL) com pesos configuráveis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Parcial (1-2 modelos)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Não divulgado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Score de confiança com 4 níveis de decisão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Binário ou ternário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Não divulgado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Blockchain dual (Hyperledger Fabric + Ethereum)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Uma rede ou nenhuma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Não utilizado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Explicabilidade via SHAP para autenticação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Aplicado em IDS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Não disponível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Detecção de deriva comportamental integrada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Trabalhos isolados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Parcial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Dinâmica de digitação + contexto + geolocalização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Geralmente unimodal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Multimodal (proprietário)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Trilha de auditoria imutável das decisões de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Blockchain genérico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Não disponível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Código aberto e reprodutível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Parcial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Não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MFA adaptativo condicionado ao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F9E41"/>
                          </a:solidFill>
                          <a:latin typeface="Segoe U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Raro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4A4A"/>
                          </a:solidFill>
                          <a:latin typeface="Segoe UI"/>
                        </a:defRPr>
                      </a:pPr>
                      <a:r>
                        <a:t>Parcial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Lacunas Identificadas na Literatura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E0B0"/>
                </a:solidFill>
                <a:latin typeface="Segoe UI"/>
              </a:defRPr>
            </a:pPr>
            <a:r>
              <a:t>Contribuições originais da proposta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2A"/>
                </a:solidFill>
                <a:latin typeface="Segoe UI"/>
              </a:defRPr>
            </a:pPr>
            <a:r>
              <a:t>Explicabilidade + Autenticação + Blockchain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65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Nenhum trabalho revisado implementa explicabilidade de IA especificamente para decisões de autenticação com registro em blockchain.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88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2A"/>
                </a:solidFill>
                <a:latin typeface="Segoe UI"/>
              </a:defRPr>
            </a:pPr>
            <a:r>
              <a:t>Blockchain Dual para Auditoria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00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A combinação de Hyperledger Fabric (permissionada) e Ethereum (interoperável) para auditoria de eventos de autenticação não foi encontrada.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2A"/>
                </a:solidFill>
                <a:latin typeface="Segoe UI"/>
              </a:defRPr>
            </a:pPr>
            <a:r>
              <a:t>Ensemble de 3 Paradigmas de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34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A combinação de detecção de anomalias (IF), classificação (RF) e aprendizado profundo (DL) com pesos configuráveis para autenticação é contribuição original.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257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2A"/>
                </a:solidFill>
                <a:latin typeface="Segoe UI"/>
              </a:defRPr>
            </a:pPr>
            <a:r>
              <a:t>Resposta Escalonada em 4 Níveis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Segoe UI"/>
              </a:defRPr>
            </a:pPr>
            <a:r>
              <a:t>A granularidade de resposta (permitir, MFA, MFA+alerta, bloquear) baseada em score contínuo supera as abordagens binárias predominantes.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Referências Bibliográficas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[1] Adaptive Biometric Auth. Systems — ScienceDirect, 2023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[2] AI-Driven Adaptive Auth. Multi-Modal — ESRG Journal, 2024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[3] Continuous Smartphone Auth. — MDPI Mathematics, 2026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[4] Keystroke Dynamics — Springer Discover Applied Sciences, 2025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[5] Blockchain Audit Trail — MDPI Algorithms, 2021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[6] Harpocrates — arXiv / Virginia Tech, 2022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[7] IAM + Hyperledger + OAuth 2.0 — ScienceDirect, 2023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[8] Risk-Based Auth. com ML — IEEE, 2018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[9] Trust Engine Behavioral — IJETCSIT, 2024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[10] AI Continuous Auth. Zero Trust — ResearchGate, 2025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[11] XAI para IDS — Frontiers in AI, 2025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[12] Adaptive Security + Drift — Al-Qadisiyah Journal, 2024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[13] IBM Security Trusteer — ibm.com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[14] BioCatch Behavioral Biometrics — biocatch.com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  <a:latin typeface="Segoe UI"/>
              </a:defRPr>
            </a:pPr>
            <a:r>
              <a:t> [15] INPI Diretrizes de IA — gov.br/inpi,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IFBA - Instituto Federal da Bahia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6B2A"/>
                </a:solidFill>
                <a:latin typeface="Segoe UI"/>
              </a:defRPr>
            </a:pPr>
            <a:r>
              <a:t>Obrigado!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91840"/>
            <a:ext cx="3017520" cy="36576"/>
          </a:xfrm>
          <a:prstGeom prst="rect">
            <a:avLst/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6B2A"/>
                </a:solidFill>
                <a:latin typeface="Segoe UI"/>
              </a:defRPr>
            </a:pPr>
            <a:r>
              <a:t>Sistema Autônomo de Autenticação 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Trabalhos Relacionados e Estado da Arte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CD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2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